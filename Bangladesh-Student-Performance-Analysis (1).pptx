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Hubot Sans"/>
      <p:regular r:id="rId17"/>
    </p:embeddedFont>
    <p:embeddedFont>
      <p:font typeface="Hubot Sans"/>
      <p:regular r:id="rId18"/>
    </p:embeddedFont>
    <p:embeddedFont>
      <p:font typeface="Roboto Condensed"/>
      <p:regular r:id="rId19"/>
    </p:embeddedFont>
    <p:embeddedFont>
      <p:font typeface="Roboto Condensed"/>
      <p:regular r:id="rId20"/>
    </p:embeddedFont>
    <p:embeddedFont>
      <p:font typeface="Roboto Condensed"/>
      <p:regular r:id="rId21"/>
    </p:embeddedFont>
    <p:embeddedFont>
      <p:font typeface="Roboto Condensed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D0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E8E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4.png"/><Relationship Id="rId5" Type="http://schemas.openxmlformats.org/officeDocument/2006/relationships/image" Target="../media/image-4-5.svg"/><Relationship Id="rId6" Type="http://schemas.openxmlformats.org/officeDocument/2006/relationships/image" Target="../media/image-4-6.png"/><Relationship Id="rId7" Type="http://schemas.openxmlformats.org/officeDocument/2006/relationships/image" Target="../media/image-4-7.svg"/><Relationship Id="rId8" Type="http://schemas.openxmlformats.org/officeDocument/2006/relationships/slideLayout" Target="../slideLayouts/slideLayout5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8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slideLayout" Target="../slideLayouts/slideLayout10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356420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BANGLADESH STUDENT PERFORMANCE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897981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 Excel Data Analytics Project exploring academic performance and identifying key factors affecting GPA and marks — powered by interactive dashboards.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515841"/>
            <a:ext cx="1001464" cy="266402"/>
          </a:xfrm>
          <a:prstGeom prst="roundRect">
            <a:avLst>
              <a:gd name="adj" fmla="val 6386"/>
            </a:avLst>
          </a:prstGeom>
          <a:solidFill>
            <a:srgbClr val="E7E7E4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558332"/>
            <a:ext cx="831354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EXCEL ANALYTICS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1568425" y="3511079"/>
            <a:ext cx="1190848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1E1E1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58243" y="3558332"/>
            <a:ext cx="101121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50" dirty="0">
                <a:solidFill>
                  <a:srgbClr val="1E1E1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ACADEMIC RESEARCH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393025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DATASET OVERVIEW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32545"/>
            <a:ext cx="5177582" cy="29339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4339" y="1598116"/>
            <a:ext cx="258224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WHAT THE DATA CONTAINS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4339" y="1961331"/>
            <a:ext cx="2628230" cy="1006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Student academic and demographic records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Study hours, attendance, and GPA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Family income and internet access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024339" y="3127177"/>
            <a:ext cx="2628230" cy="1056010"/>
          </a:xfrm>
          <a:prstGeom prst="roundRect">
            <a:avLst>
              <a:gd name="adj" fmla="val 2014"/>
            </a:avLst>
          </a:prstGeom>
          <a:solidFill>
            <a:srgbClr val="B6D6FC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6098" y="3342233"/>
            <a:ext cx="177180" cy="1417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85037" y="3304356"/>
            <a:ext cx="2025774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cleaned and transformed using Microsoft Excel for accurate analysis.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65026"/>
            <a:ext cx="471658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TOOLS &amp; FEATURES USED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220614"/>
            <a:ext cx="2290465" cy="1832149"/>
          </a:xfrm>
          <a:prstGeom prst="roundRect">
            <a:avLst>
              <a:gd name="adj" fmla="val 1161"/>
            </a:avLst>
          </a:prstGeom>
          <a:solidFill>
            <a:srgbClr val="D8D9D2"/>
          </a:solidFill>
          <a:ln/>
        </p:spPr>
      </p:sp>
      <p:sp>
        <p:nvSpPr>
          <p:cNvPr id="5" name="Shape 2"/>
          <p:cNvSpPr/>
          <p:nvPr/>
        </p:nvSpPr>
        <p:spPr>
          <a:xfrm>
            <a:off x="4066877" y="136237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C8CAC1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83856" y="1479277"/>
            <a:ext cx="191319" cy="191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66877" y="1929408"/>
            <a:ext cx="2006947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PIVOT TABLES &amp; CHARTS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066877" y="2457376"/>
            <a:ext cx="2006947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Dynamic data summarization and visualization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6357342" y="1220614"/>
            <a:ext cx="2290539" cy="1832149"/>
          </a:xfrm>
          <a:prstGeom prst="roundRect">
            <a:avLst>
              <a:gd name="adj" fmla="val 1161"/>
            </a:avLst>
          </a:prstGeom>
          <a:solidFill>
            <a:srgbClr val="D8D9D2"/>
          </a:solidFill>
          <a:ln/>
        </p:spPr>
      </p:sp>
      <p:sp>
        <p:nvSpPr>
          <p:cNvPr id="10" name="Shape 6"/>
          <p:cNvSpPr/>
          <p:nvPr/>
        </p:nvSpPr>
        <p:spPr>
          <a:xfrm>
            <a:off x="6499101" y="1362373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C8CAC1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6080" y="1479277"/>
            <a:ext cx="191319" cy="191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499101" y="1929408"/>
            <a:ext cx="20070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CONDITIONAL FORMATTING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499101" y="2457376"/>
            <a:ext cx="200702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Visual KPI cards for instant insight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3925119" y="3194521"/>
            <a:ext cx="4722763" cy="1383878"/>
          </a:xfrm>
          <a:prstGeom prst="roundRect">
            <a:avLst>
              <a:gd name="adj" fmla="val 1537"/>
            </a:avLst>
          </a:prstGeom>
          <a:solidFill>
            <a:srgbClr val="D8D9D2"/>
          </a:solidFill>
          <a:ln/>
        </p:spPr>
      </p:sp>
      <p:sp>
        <p:nvSpPr>
          <p:cNvPr id="15" name="Shape 10"/>
          <p:cNvSpPr/>
          <p:nvPr/>
        </p:nvSpPr>
        <p:spPr>
          <a:xfrm>
            <a:off x="4066877" y="3336280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C8CAC1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183856" y="3453185"/>
            <a:ext cx="191319" cy="191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066877" y="3903315"/>
            <a:ext cx="26890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SLICERS &amp; INTERACTIVITY</a:t>
            </a:r>
            <a:endParaRPr lang="en-US" sz="1350" dirty="0"/>
          </a:p>
        </p:txBody>
      </p:sp>
      <p:sp>
        <p:nvSpPr>
          <p:cNvPr id="18" name="Text 12"/>
          <p:cNvSpPr/>
          <p:nvPr/>
        </p:nvSpPr>
        <p:spPr>
          <a:xfrm>
            <a:off x="4066877" y="4209827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Interactive dashboard with dynamic filtering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94568"/>
            <a:ext cx="49861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DATA CLEANING PROCESS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100" y="1321073"/>
            <a:ext cx="4787801" cy="28415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3611" y="2015601"/>
            <a:ext cx="407581" cy="40758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510481" y="3388896"/>
            <a:ext cx="1190138" cy="4585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STANDARDIZE VALUES</a:t>
            </a:r>
            <a:endParaRPr lang="en-US" sz="14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81480" y="2016365"/>
            <a:ext cx="407582" cy="407582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10581" y="3274264"/>
            <a:ext cx="1190138" cy="68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HANDLE MISSING DATA</a:t>
            </a:r>
            <a:endParaRPr lang="en-US" sz="14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1580" y="2016365"/>
            <a:ext cx="407582" cy="407582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2486226" y="3274264"/>
            <a:ext cx="1190138" cy="687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REMOVE DUPLICATES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2661231" y="3257961"/>
            <a:ext cx="872225" cy="2608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REMOVE 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496119" y="4322118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 structured cleaning pipeline ensured data accuracy and consistency before any analysis was performed.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03052"/>
            <a:ext cx="541853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DASHBOARD &amp; KPI METRICS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00399"/>
            <a:ext cx="3987254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2</a:t>
            </a:r>
            <a:endParaRPr lang="en-US" sz="3650" dirty="0"/>
          </a:p>
        </p:txBody>
      </p:sp>
      <p:sp>
        <p:nvSpPr>
          <p:cNvPr id="4" name="Text 2"/>
          <p:cNvSpPr/>
          <p:nvPr/>
        </p:nvSpPr>
        <p:spPr>
          <a:xfrm>
            <a:off x="1438349" y="2645271"/>
            <a:ext cx="210279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KPI CARDS &amp; SLICERS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951783"/>
            <a:ext cx="398725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Avg GPA &amp; Avg HSC Score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660553" y="2000399"/>
            <a:ext cx="3987329" cy="467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650"/>
              </a:lnSpc>
              <a:buNone/>
            </a:pPr>
            <a:r>
              <a:rPr lang="en-US" sz="36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1</a:t>
            </a:r>
            <a:endParaRPr lang="en-US" sz="3650" dirty="0"/>
          </a:p>
        </p:txBody>
      </p:sp>
      <p:sp>
        <p:nvSpPr>
          <p:cNvPr id="7" name="Text 5"/>
          <p:cNvSpPr/>
          <p:nvPr/>
        </p:nvSpPr>
        <p:spPr>
          <a:xfrm>
            <a:off x="5344716" y="2645271"/>
            <a:ext cx="261892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660553" y="2951783"/>
            <a:ext cx="3987329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Dynamic filtering for easy category comparison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6119" y="3338066"/>
            <a:ext cx="8151763" cy="602382"/>
          </a:xfrm>
          <a:prstGeom prst="roundRect">
            <a:avLst>
              <a:gd name="adj" fmla="val 3530"/>
            </a:avLst>
          </a:prstGeom>
          <a:solidFill>
            <a:srgbClr val="B6FCB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3553123"/>
            <a:ext cx="177180" cy="14175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56816" y="3515246"/>
            <a:ext cx="75493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Slicers enable instant cross-category comparisons with a single click.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17488"/>
            <a:ext cx="667650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GENDER &amp; STUDY HOURS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3396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FINDINGS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6119" y="2397175"/>
            <a:ext cx="2628230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Male and female performance compared across metrics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Students studying more hours consistently scored higher grades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Strong positive correlation between study time and marks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988" y="1432545"/>
            <a:ext cx="5177582" cy="29339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46770"/>
            <a:ext cx="652239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ATTENDANCE &amp; FAMILY INCOME ANALYSIS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489" y="935906"/>
            <a:ext cx="3759622" cy="375962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14503" y="2436688"/>
            <a:ext cx="1794197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WHAT THE DATA SHOWS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714503" y="2703165"/>
            <a:ext cx="3759622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 attendance students achieved better performance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Family income significantly impacts educational outcomes</a:t>
            </a:r>
            <a:endParaRPr lang="en-US" sz="850" dirty="0"/>
          </a:p>
          <a:p>
            <a:pPr algn="l" marL="342900" indent="-342900">
              <a:lnSpc>
                <a:spcPts val="1250"/>
              </a:lnSpc>
              <a:buSzPct val="100000"/>
              <a:buChar char="•"/>
            </a:pPr>
            <a:r>
              <a:rPr lang="en-US" sz="85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Income categories compared directly against GPA scores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84882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INTERNET ACCESS &amp; DISTRICT ANALYSIS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83457"/>
            <a:ext cx="4722763" cy="854943"/>
          </a:xfrm>
          <a:prstGeom prst="roundRect">
            <a:avLst>
              <a:gd name="adj" fmla="val 10695"/>
            </a:avLst>
          </a:prstGeom>
          <a:solidFill>
            <a:srgbClr val="E8E8E3"/>
          </a:solidFill>
          <a:ln w="19050">
            <a:solidFill>
              <a:srgbClr val="C8CAC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06069" y="1583457"/>
            <a:ext cx="76200" cy="854943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6" name="Text 3"/>
          <p:cNvSpPr/>
          <p:nvPr/>
        </p:nvSpPr>
        <p:spPr>
          <a:xfrm>
            <a:off x="4143077" y="1744266"/>
            <a:ext cx="180863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INTERNET ACCESS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143077" y="2050777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Students with internet access performed measurably better academically.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925119" y="2580159"/>
            <a:ext cx="4722763" cy="854943"/>
          </a:xfrm>
          <a:prstGeom prst="roundRect">
            <a:avLst>
              <a:gd name="adj" fmla="val 10695"/>
            </a:avLst>
          </a:prstGeom>
          <a:solidFill>
            <a:srgbClr val="E8E8E3"/>
          </a:solidFill>
          <a:ln w="19050">
            <a:solidFill>
              <a:srgbClr val="C8CAC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906069" y="2580159"/>
            <a:ext cx="76200" cy="854943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10" name="Text 7"/>
          <p:cNvSpPr/>
          <p:nvPr/>
        </p:nvSpPr>
        <p:spPr>
          <a:xfrm>
            <a:off x="4143077" y="2740968"/>
            <a:ext cx="181748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TUITION SUPPORT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43077" y="3047479"/>
            <a:ext cx="43439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Tuition assistance positively affected overall scores.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925119" y="3576861"/>
            <a:ext cx="4722763" cy="1081757"/>
          </a:xfrm>
          <a:prstGeom prst="roundRect">
            <a:avLst>
              <a:gd name="adj" fmla="val 8453"/>
            </a:avLst>
          </a:prstGeom>
          <a:solidFill>
            <a:srgbClr val="E8E8E3"/>
          </a:solidFill>
          <a:ln w="19050">
            <a:solidFill>
              <a:srgbClr val="C8CAC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06069" y="3576861"/>
            <a:ext cx="76200" cy="1081757"/>
          </a:xfrm>
          <a:prstGeom prst="roundRect">
            <a:avLst>
              <a:gd name="adj" fmla="val 27907"/>
            </a:avLst>
          </a:prstGeom>
          <a:solidFill>
            <a:srgbClr val="C8CAC1"/>
          </a:solidFill>
          <a:ln/>
        </p:spPr>
      </p:sp>
      <p:sp>
        <p:nvSpPr>
          <p:cNvPr id="14" name="Text 11"/>
          <p:cNvSpPr/>
          <p:nvPr/>
        </p:nvSpPr>
        <p:spPr>
          <a:xfrm>
            <a:off x="4143077" y="3737670"/>
            <a:ext cx="235996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DISTRICT COMPARISON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4143077" y="4044181"/>
            <a:ext cx="434399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District-wise analysis identified top and low-performing regions across Bangladesh.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328737"/>
            <a:ext cx="578494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KEY INSIGHTS &amp; CHALLENGES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12608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TOP INSIGHTS</a:t>
            </a:r>
            <a:endParaRPr lang="en-US" sz="13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9250" y="2514079"/>
            <a:ext cx="212601" cy="2126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56816" y="2507010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Study hours &amp; attendance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strongly influence GPA</a:t>
            </a:r>
            <a:endParaRPr lang="en-US" sz="11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250" y="3229942"/>
            <a:ext cx="212601" cy="21260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56816" y="3222873"/>
            <a:ext cx="344224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Internet access</a:t>
            </a:r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 improves learning outcomes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749701" y="2126084"/>
            <a:ext cx="19247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CHALLENGES FACED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749701" y="2489299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Data cleaning and handling inconsistencies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Selecting the right visualizations</a:t>
            </a:r>
            <a:endParaRPr lang="en-US" sz="1100" dirty="0"/>
          </a:p>
          <a:p>
            <a:pPr algn="l" marL="342900" indent="-342900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Dashboard layout and formatting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28154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CONCLUSION &amp; FUTURE IMPROVEMENTS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926729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37877" y="2068488"/>
            <a:ext cx="184494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CURRENT SUCCESS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37877" y="2374999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Excel effectively supports educational data analysis with clear decision-making insights.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496119" y="3112145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37877" y="325390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FUTURE PLANS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37877" y="3560415"/>
            <a:ext cx="443924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Power BI dashboards, predictive analytics, and automated reporting.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6119" y="4088457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Thank You — Questions &amp; Answers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2026-05-12T15:01:42Z</dcterms:created>
  <dcterms:modified xsi:type="dcterms:W3CDTF">2026-05-12T15:01:42Z</dcterms:modified>
</cp:coreProperties>
</file>